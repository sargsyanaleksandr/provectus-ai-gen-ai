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828800"/>
            <a:ext cx="6400800" cy="6400800"/>
          </a:xfrm>
          <a:prstGeom prst="ellipse">
            <a:avLst/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4114800" cy="4114800"/>
          </a:xfrm>
          <a:prstGeom prst="ellipse">
            <a:avLst/>
          </a:prstGeom>
          <a:solidFill>
            <a:srgbClr val="06B6D4">
              <a:alpha val="6000"/>
            </a:srgbClr>
          </a:solidFill>
          <a:ln w="127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5840"/>
            <a:ext cx="237744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E2E8F0"/>
                </a:solidFill>
              </a:rPr>
              <a:t>GEN AI INTERNSHIP — PROVECTUS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3337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Transforming 454K raw telemetry events into actionable developer intelligence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4023360"/>
            <a:ext cx="1965960" cy="868680"/>
          </a:xfrm>
          <a:prstGeom prst="rect">
            <a:avLst/>
          </a:prstGeom>
          <a:solidFill>
            <a:srgbClr val="0A1422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402336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507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Events Processed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4023360"/>
            <a:ext cx="1965960" cy="868680"/>
          </a:xfrm>
          <a:prstGeom prst="rect">
            <a:avLst/>
          </a:prstGeom>
          <a:solidFill>
            <a:srgbClr val="0A1422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402336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40507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34640" y="4434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Engineers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4023360"/>
            <a:ext cx="1965960" cy="868680"/>
          </a:xfrm>
          <a:prstGeom prst="rect">
            <a:avLst/>
          </a:prstGeom>
          <a:solidFill>
            <a:srgbClr val="0A1422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402336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40507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37760" y="4434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Sessions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4023360"/>
            <a:ext cx="1965960" cy="868680"/>
          </a:xfrm>
          <a:prstGeom prst="rect">
            <a:avLst/>
          </a:prstGeom>
          <a:solidFill>
            <a:srgbClr val="0A1422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402336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40507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40880" y="4434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Days Analyzed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B82F6"/>
                </a:solidFill>
              </a:rPr>
              <a:t>KEY FINDINGS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788920" cy="1664208"/>
          </a:xfrm>
          <a:prstGeom prst="rect">
            <a:avLst/>
          </a:prstGeom>
          <a:solidFill>
            <a:srgbClr val="0A1422"/>
          </a:solidFill>
          <a:ln w="12700">
            <a:solidFill>
              <a:srgbClr val="F59E0B">
                <a:alpha val="2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64008" cy="1664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43584"/>
            <a:ext cx="658368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435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810"/>
                </a:solidFill>
              </a:rPr>
              <a:t>COST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15727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201168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Total API Cost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60-day period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9272" y="1097280"/>
            <a:ext cx="2788920" cy="1664208"/>
          </a:xfrm>
          <a:prstGeom prst="rect">
            <a:avLst/>
          </a:prstGeom>
          <a:solidFill>
            <a:srgbClr val="0A1422"/>
          </a:solidFill>
          <a:ln w="12700">
            <a:solidFill>
              <a:srgbClr val="22C55E">
                <a:alpha val="2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1097280"/>
            <a:ext cx="64008" cy="16642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243584"/>
            <a:ext cx="658368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2435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810"/>
                </a:solidFill>
              </a:rPr>
              <a:t>MODELS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74720" y="15727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39%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474720" y="201168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Request volume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Only 3% of cost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27064" y="1097280"/>
            <a:ext cx="2788920" cy="1664208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>
                <a:alpha val="2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097280"/>
            <a:ext cx="64008" cy="16642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1243584"/>
            <a:ext cx="658368" cy="23774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2435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810"/>
                </a:solidFill>
              </a:rPr>
              <a:t>MODELS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82512" y="15727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71%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382512" y="201168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Cost share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From 22% requests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926080"/>
            <a:ext cx="2788920" cy="1664208"/>
          </a:xfrm>
          <a:prstGeom prst="rect">
            <a:avLst/>
          </a:prstGeom>
          <a:solidFill>
            <a:srgbClr val="0A1422"/>
          </a:solidFill>
          <a:ln w="12700">
            <a:solidFill>
              <a:srgbClr val="06B6D4">
                <a:alpha val="2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926080"/>
            <a:ext cx="64008" cy="16642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072384"/>
            <a:ext cx="658368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0723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810"/>
                </a:solidFill>
              </a:rPr>
              <a:t>TIMING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6928" y="34015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16-17 UTC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66928" y="384048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Peak usage hours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Daily pattern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9272" y="2926080"/>
            <a:ext cx="2788920" cy="1664208"/>
          </a:xfrm>
          <a:prstGeom prst="rect">
            <a:avLst/>
          </a:prstGeom>
          <a:solidFill>
            <a:srgbClr val="0A1422"/>
          </a:solidFill>
          <a:ln w="12700">
            <a:solidFill>
              <a:srgbClr val="22C55E">
                <a:alpha val="2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19272" y="2926080"/>
            <a:ext cx="64008" cy="16642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072384"/>
            <a:ext cx="658368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0723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810"/>
                </a:solidFill>
              </a:rPr>
              <a:t>HEALTH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74720" y="34015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1.15%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3474720" y="384048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Error rate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Excellent health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27064" y="2926080"/>
            <a:ext cx="2788920" cy="1664208"/>
          </a:xfrm>
          <a:prstGeom prst="rect">
            <a:avLst/>
          </a:prstGeom>
          <a:solidFill>
            <a:srgbClr val="0A1422"/>
          </a:solidFill>
          <a:ln w="12700">
            <a:solidFill>
              <a:srgbClr val="8B5CF6">
                <a:alpha val="2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27064" y="2926080"/>
            <a:ext cx="64008" cy="16642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82512" y="3072384"/>
            <a:ext cx="658368" cy="2377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30723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810"/>
                </a:solidFill>
              </a:rPr>
              <a:t>TOOLS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82512" y="34015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Accept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6382512" y="384048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Tool decisions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High trust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</a:rPr>
              <a:t>COST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Money Go?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Cost by Engineering Practice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ML Engineering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444752"/>
            <a:ext cx="4754880" cy="219456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1444752"/>
            <a:ext cx="417750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13898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$1,475 (24.6%)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0391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Frontend Engineering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2093976"/>
            <a:ext cx="4754880" cy="219456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093976"/>
            <a:ext cx="41605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20391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$1,473 (24.5%)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68833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Data Engineering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06040" y="2743200"/>
            <a:ext cx="4754880" cy="219456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743200"/>
            <a:ext cx="3345398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68833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$1,184 (19.7%)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Backend Engineering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3392424"/>
            <a:ext cx="4754880" cy="219456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3392424"/>
            <a:ext cx="3328416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33375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$1,176 (19.6%)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98678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Platform Engineering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06040" y="4041648"/>
            <a:ext cx="4754880" cy="219456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4041648"/>
            <a:ext cx="1969879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398678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$693 (11.6%)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645152"/>
            <a:ext cx="4069080" cy="320040"/>
          </a:xfrm>
          <a:prstGeom prst="rect">
            <a:avLst/>
          </a:prstGeom>
          <a:solidFill>
            <a:srgbClr val="0A1422"/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645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&gt;&gt; ML &amp; Frontend = 49% of total cost — highest priority for governance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4645152"/>
            <a:ext cx="4114800" cy="320040"/>
          </a:xfrm>
          <a:prstGeom prst="rect">
            <a:avLst/>
          </a:prstGeom>
          <a:solidFill>
            <a:srgbClr val="0A1422"/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645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&gt;&gt; L5 engineers drive most requests — mid-senior cohort power users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B5CF6"/>
                </a:solidFill>
              </a:rPr>
              <a:t>USAGE INTELLIGENCE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Tool Behavior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00600" y="1005840"/>
            <a:ext cx="0" cy="3794760"/>
          </a:xfrm>
          <a:prstGeom prst="line">
            <a:avLst/>
          </a:prstGeom>
          <a:noFill/>
          <a:ln w="12700">
            <a:solidFill>
              <a:srgbClr val="0A14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Model: Volume vs Cost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4114800" cy="201168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08176"/>
            <a:ext cx="3566160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haiku-4-5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46120" y="137160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39% vol · 3% cost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002536"/>
            <a:ext cx="4114800" cy="201168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002536"/>
            <a:ext cx="2011680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659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opus-4-6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46120" y="196596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43F5E"/>
                </a:solidFill>
              </a:rPr>
              <a:t>22% vol · 34% cost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596896"/>
            <a:ext cx="4114800" cy="201168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96896"/>
            <a:ext cx="1828800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603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opus-4-5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46120" y="25603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43F5E"/>
                </a:solidFill>
              </a:rPr>
              <a:t>20% vol · 37% cost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191256"/>
            <a:ext cx="4114800" cy="201168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191256"/>
            <a:ext cx="155448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546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sonnet-4-5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31546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17% vol · 23% cost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785616"/>
            <a:ext cx="4114800" cy="201168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785616"/>
            <a:ext cx="18288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490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sonnet-4-6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46120" y="3749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2% vol · 3% cost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83480" y="1051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Top Tools by Usage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1408176"/>
            <a:ext cx="3840480" cy="201168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3480" y="1408176"/>
            <a:ext cx="384048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13716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Read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66760" y="13716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46,015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1984248"/>
            <a:ext cx="3840480" cy="201168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1984248"/>
            <a:ext cx="3606704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01768" y="194767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Bash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66760" y="194767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43,214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83480" y="2560320"/>
            <a:ext cx="3840480" cy="201168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2560320"/>
            <a:ext cx="15963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01768" y="252374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Edit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66760" y="252374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19,127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3136392"/>
            <a:ext cx="3840480" cy="201168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83480" y="3136392"/>
            <a:ext cx="96523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01768" y="309981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Grep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366760" y="309981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11,565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83480" y="3712464"/>
            <a:ext cx="3840480" cy="201168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3480" y="3712464"/>
            <a:ext cx="591825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01768" y="367588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Glob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366760" y="36758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7,091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983480" y="4288536"/>
            <a:ext cx="3840480" cy="201168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83480" y="4288536"/>
            <a:ext cx="534070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01768" y="42519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mcp_tool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366760" y="42519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43F5E"/>
                </a:solidFill>
              </a:rPr>
              <a:t>6,399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11480" y="4645152"/>
            <a:ext cx="8412480" cy="320040"/>
          </a:xfrm>
          <a:prstGeom prst="rect">
            <a:avLst/>
          </a:prstGeom>
          <a:solidFill>
            <a:srgbClr val="0A1422"/>
          </a:solidFill>
          <a:ln w="12700">
            <a:solidFill>
              <a:srgbClr val="8B5CF6">
                <a:alpha val="28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&gt;&gt; Read + Bash = 58% of all tool calls — engineers use Claude to EXPLORE and EXECUTE, not just generate code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C55E"/>
                </a:solidFill>
              </a:rPr>
              <a:t>RECOMMENDATIONS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206240" cy="1664208"/>
          </a:xfrm>
          <a:prstGeom prst="rect">
            <a:avLst/>
          </a:prstGeom>
          <a:solidFill>
            <a:srgbClr val="0A1422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64008" cy="1664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34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6072" y="16916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2E8F0"/>
                </a:solidFill>
              </a:rPr>
              <a:t>Set Practice Cost Budgets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76072" y="2084832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ML &amp; Frontend drive 49% of cost. Implement monthly caps at mean+2sigma per team with automated Slack alerts.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4206240" cy="1664208"/>
          </a:xfrm>
          <a:prstGeom prst="rect">
            <a:avLst/>
          </a:prstGeom>
          <a:solidFill>
            <a:srgbClr val="0A1422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43000"/>
            <a:ext cx="64008" cy="16642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234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10912" y="16916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2E8F0"/>
                </a:solidFill>
              </a:rPr>
              <a:t>Smart Model Routing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10912" y="2084832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Auto-route Read/Grep tasks to Haiku (39x cheaper than Opus). Reserve Opus for complex reasoning. Est. 30% cost reduction.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971800"/>
            <a:ext cx="4206240" cy="1664208"/>
          </a:xfrm>
          <a:prstGeom prst="rect">
            <a:avLst/>
          </a:prstGeom>
          <a:solidFill>
            <a:srgbClr val="0A1422"/>
          </a:solidFill>
          <a:ln w="12700">
            <a:solidFill>
              <a:srgbClr val="8B5CF6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971800"/>
            <a:ext cx="64008" cy="16642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0632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6072" y="35204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2E8F0"/>
                </a:solidFill>
              </a:rPr>
              <a:t>Fix Aborted Request UX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76072" y="3913632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54% of errors are user-cancelled Opus calls. Add streaming progress indicators + ETA to prevent cancellations.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971800"/>
            <a:ext cx="4206240" cy="1664208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971800"/>
            <a:ext cx="64008" cy="16642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0632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10912" y="35204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2E8F0"/>
                </a:solidFill>
              </a:rPr>
              <a:t>Rate Limit Queuing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10912" y="3913632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23% of errors are 429s at 16-17 UTC. Implement per-team request queuing and exponential backoff for peak hours.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Analytics — Insights</dc:title>
  <dc:subject>PptxGenJS Presentation</dc:subject>
  <dc:creator>PptxGenJS</dc:creator>
  <cp:lastModifiedBy>PptxGenJS</cp:lastModifiedBy>
  <cp:revision>1</cp:revision>
  <dcterms:created xsi:type="dcterms:W3CDTF">2026-03-05T20:49:42Z</dcterms:created>
  <dcterms:modified xsi:type="dcterms:W3CDTF">2026-03-05T20:49:42Z</dcterms:modified>
</cp:coreProperties>
</file>